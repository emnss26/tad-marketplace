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4023360" cy="4023360"/>
          </a:xfrm>
          <a:prstGeom prst="ellipse">
            <a:avLst/>
          </a:prstGeom>
          <a:solidFill>
            <a:srgbClr val="2B377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108960"/>
            <a:ext cx="2743200" cy="2743200"/>
          </a:xfrm>
          <a:prstGeom prst="ellipse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377440" cy="2377440"/>
          </a:xfrm>
          <a:prstGeom prst="ellipse">
            <a:avLst/>
          </a:prstGeom>
          <a:solidFill>
            <a:srgbClr val="2B3775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5486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Arquitectura Digital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 Hub — Mapa de servicios y flujos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cada pieza y cómo embona el negocio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554480" cy="384048"/>
          </a:xfrm>
          <a:prstGeom prst="rect">
            <a:avLst/>
          </a:prstGeom>
          <a:solidFill>
            <a:srgbClr val="2B377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·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ecosistema en una vista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024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85" y="1127821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1498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tad.com.mx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82112" y="1069848"/>
            <a:ext cx="1170432" cy="256032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10698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58368" y="149047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comercial. El escaparate: presenta, convence y manda tráfico a pricing y contact.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8686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86868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828032" y="1024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725" y="1127821"/>
            <a:ext cx="176662" cy="1766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01498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marketplace.tad.com.mx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88352" y="1069848"/>
            <a:ext cx="1170432" cy="256032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88352" y="10698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CONSTRUCCIÓN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864608" y="149047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tienda. Registro, compra con PayPal y activación de licencias.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base de datos. Hoy funciona en local.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233172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3317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21792" y="2487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5" y="2590861"/>
            <a:ext cx="176662" cy="1766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24780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mcp.tad.com.mx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182112" y="2532888"/>
            <a:ext cx="11704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182112" y="253288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DESPLEGAR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658368" y="295351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estrella: MCP for Revit.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base de datos para autenticar cada petición.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663440" y="233172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23317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6"/>
          <p:cNvSpPr/>
          <p:nvPr/>
        </p:nvSpPr>
        <p:spPr>
          <a:xfrm>
            <a:off x="4828032" y="2487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725" y="2590861"/>
            <a:ext cx="176662" cy="17666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03520" y="24780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platform.tad.com.mx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388352" y="2532888"/>
            <a:ext cx="1170432" cy="256032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88352" y="253288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4864608" y="295351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BIM (~10 módulos): issues, RFIs, planos, model checker, IA. Venta por cotización.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7200" y="3931920"/>
            <a:ext cx="64008" cy="7498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9" name="Shape 33"/>
          <p:cNvSpPr/>
          <p:nvPr/>
        </p:nvSpPr>
        <p:spPr>
          <a:xfrm>
            <a:off x="658368" y="4123944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" y="4222699"/>
            <a:ext cx="168250" cy="1682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70432" y="3931920"/>
            <a:ext cx="7333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entre la tienda y el MCP </a:t>
            </a:r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API: son tablas DynamoDB compartidas.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escribe quién pagó; el MCP lee si dejarte pasar.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Dominios y DNS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40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2468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1887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36" y="1302288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GoDaddy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2103120"/>
            <a:ext cx="1143000" cy="246888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10312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REGISTRAR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58368" y="245059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anual del dominio tad.com.mx. Nada más vive aquí: el DNS está delegado.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24912" y="1755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 NS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816352" y="2011680"/>
            <a:ext cx="713232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3611880" y="960120"/>
            <a:ext cx="50749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11880" y="960120"/>
            <a:ext cx="82296" cy="2468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3822192" y="1143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823" y="1251631"/>
            <a:ext cx="185075" cy="185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34256" y="11430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53 — TODO el DNS (3 zonas)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3822192" y="1691640"/>
            <a:ext cx="4663440" cy="475488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21" name="Text 17"/>
          <p:cNvSpPr/>
          <p:nvPr/>
        </p:nvSpPr>
        <p:spPr>
          <a:xfrm>
            <a:off x="3950208" y="1728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tad.com.mx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950208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Z00020122KOXU97RPLOL6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309360" y="16916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'Managed by Terraform'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822192" y="2258568"/>
            <a:ext cx="4663440" cy="475488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25" name="Text 21"/>
          <p:cNvSpPr/>
          <p:nvPr/>
        </p:nvSpPr>
        <p:spPr>
          <a:xfrm>
            <a:off x="3950208" y="22951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mcp.tad.com.mx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950208" y="25054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Z0240009AYKYK766O2PV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822192" y="2825496"/>
            <a:ext cx="4663440" cy="475488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28" name="Text 24"/>
          <p:cNvSpPr/>
          <p:nvPr/>
        </p:nvSpPr>
        <p:spPr>
          <a:xfrm>
            <a:off x="3950208" y="2862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platform.tad.com.mx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950208" y="30723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Z05647572IDI3395937VW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57200" y="374904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" y="374904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Shape 28"/>
          <p:cNvSpPr/>
          <p:nvPr/>
        </p:nvSpPr>
        <p:spPr>
          <a:xfrm>
            <a:off x="621792" y="4032504"/>
            <a:ext cx="365760" cy="365760"/>
          </a:xfrm>
          <a:prstGeom prst="ellipse">
            <a:avLst/>
          </a:prstGeom>
          <a:solidFill>
            <a:srgbClr val="E4EDFB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4131259"/>
            <a:ext cx="168250" cy="16825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115568" y="3858768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marketplace.tad.com.mx</a:t>
            </a:r>
            <a:pPr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será una zona nueva: es UN REGISTRO en la zona apex (lo crea Terraform).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663440" y="374904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663440" y="374904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7" name="Shape 32"/>
          <p:cNvSpPr/>
          <p:nvPr/>
        </p:nvSpPr>
        <p:spPr>
          <a:xfrm>
            <a:off x="4828032" y="4032504"/>
            <a:ext cx="365760" cy="365760"/>
          </a:xfrm>
          <a:prstGeom prst="ellipse">
            <a:avLst/>
          </a:prstGeom>
          <a:solidFill>
            <a:srgbClr val="E4EDFB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87" y="4131259"/>
            <a:ext cx="168250" cy="1682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21808" y="3858768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CNAMEs DKIM de SES</a:t>
            </a:r>
            <a:pPr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(verificación de correo) también viven en la zona apex tad.com.mx.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tad-landing · Páginas y propósito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  (Home)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+ 6 clientes reales + 7 pilares + demo + testimonios. Objetivo: credibilidad y clic a pricing.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3736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/solutions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66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pilares a detalle con anchor nav. Venta consultiva.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0604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35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 TAD Platform + módulos standalone.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/mcps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MCPs, 13 categorías del Revit MCP, prompts de ejemplo y pasos de instalación.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6868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/pricing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197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cards espejo del marketplace ($69 Personal / $299 Team / Enterprise y Platform: cotización). CTA de compra.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73736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/about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066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valores y stats honestos (4 clientes / 15 proyectos / 120+ tools / 13 categorías).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0604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/contact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935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(Web3Forms → taller.arq.dgtl@gmail.com, con fallback mailto).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023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74720"/>
            <a:ext cx="64008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/legal/*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8039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+ EULA del MCP. Requisito para PayPal live y Autodesk.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407408"/>
            <a:ext cx="64008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40740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SPA  ·  S3 + CloudFront  ·  Deploy: </a:t>
            </a:r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deploy:win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· Qué dicen los documentos publicados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51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" y="115525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Policy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337560" y="1115568"/>
            <a:ext cx="960120" cy="256032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11155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secciones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" y="162763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SOLO datos de cuenta, seat (hostname) y eventos de uso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el modelo de Revit ni el contenido de tus prompts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Terceros: AWS (hosting) y PayPal (pagos)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Retención: telemetría 90 días (TTL automático)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acceso y borrado de tus datos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taller.arq.dgtl@gmail.com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86868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868680"/>
            <a:ext cx="64008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1051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13" y="1155253"/>
            <a:ext cx="176662" cy="1766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0096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EULA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7543800" y="1115568"/>
            <a:ext cx="960120" cy="256032"/>
          </a:xfrm>
          <a:prstGeom prst="rect">
            <a:avLst/>
          </a:prstGeom>
          <a:solidFill>
            <a:srgbClr val="E4EDFB"/>
          </a:solidFill>
          <a:ln/>
        </p:spPr>
      </p:sp>
      <p:sp>
        <p:nvSpPr>
          <p:cNvPr id="19" name="Text 15"/>
          <p:cNvSpPr/>
          <p:nvPr/>
        </p:nvSpPr>
        <p:spPr>
          <a:xfrm>
            <a:off x="7543800" y="11155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secciones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892040" y="162763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por suscripción, no exclusiva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central: 1 seat = 1 workstation (token + hostname)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compartir tokens y la ingeniería inversa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por impago surte efecto en ≤5 min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limitada</a:t>
            </a:r>
            <a:endParaRPr lang="en-US" sz="1000" dirty="0"/>
          </a:p>
          <a:p>
            <a:pPr algn="l" marL="127000" indent="-127000"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mexicana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E4EDFB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4114800"/>
            <a:ext cx="6400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58368" y="421538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4314139"/>
            <a:ext cx="168250" cy="1682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70432" y="4114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redactados con IA — </a:t>
            </a:r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revisión por abogado antes de considerarlos definitivos.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· El viaje del usuario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9966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996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960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Llega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tad.com.mx aterriza en /products del marketplace.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7452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20025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1965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Cuenta SIN contraseña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2219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acceso → AWS SES manda un correo con 'magic link' (caduca en 15 min, un solo uso) → al abrirlo queda logueado 7 días (cookie segura).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" y="30083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2971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227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Perfil, sus licencias (estado, próximo cobro), descargar installer, activar PC, panel de equipo y cancelar.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8620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40142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4233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→ checkout → PayPal (ahí se paga) → regresa a la tienda → se crean tenant + license en la base.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86868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9744" y="9966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996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960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21615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= 1 seat ($69/mes). Team = 5 seats ($299/mes, un solo pago cubre 5 PCs). Enterprise (25) y Platform = cotización con ventas.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217420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21742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9744" y="23454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23454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0368" y="23088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 (Team)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25648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invita por correo → el invitado entra con su propio magic link → activa SU PC y consume 1 de los 5 seats. El dueño puede revocar cualquier seat.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566160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56616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Shape 41"/>
          <p:cNvSpPr/>
          <p:nvPr/>
        </p:nvSpPr>
        <p:spPr>
          <a:xfrm>
            <a:off x="4809744" y="36941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4809744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30368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Cancelar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3913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en dashboard O directo en PayPal — ambos caminos dejan la base igual (el webhook sincroniza).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· Para qué sirve cada tabla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41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tad-marketplace-users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«Quién eres»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216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email, tu id, qué cuentas-empresa posees o integras.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41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tad-marketplace-auth-tokens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«Llaves de un solo uso»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216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links e invitaciones; se autodestruyen a los 15 min.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65376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385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tad-mcp-aws-tenants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«El cliente que paga»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o empresa y su semáforo de cobro (billing.status). El MCP lo consulta: si no está 'active' → error 402.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865376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865376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9385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tad-mcp-aws-licenses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«Lo que compraste»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plan, cupo de seats (1/5/25), estado e id de suscripción PayPal.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862072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62072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352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tad-mcp-aws-seats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«Cada PC activada»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209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 SHA-256 del token + hostname + estado. ES la tabla de autenticación del MCP.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862072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62072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9352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tad-mcp-aws-usage-events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«Bitácora de uso»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209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escribirá el MCP; se borra sola a los 90 días. Para métricas.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402336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58768"/>
            <a:ext cx="64008" cy="9052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319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tad-mcp-aws-products</a:t>
            </a:r>
            <a:pPr algn="l" indent="0" marL="0">
              <a:buNone/>
            </a:pPr>
            <a:r>
              <a:rPr lang="en-US" sz="950" b="1" i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«Catálogo en DB»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vacía; el catálogo vive en código (catalog.ts).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858768"/>
            <a:ext cx="4023360" cy="905256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858768"/>
            <a:ext cx="64008" cy="9052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4123944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075" y="4222699"/>
            <a:ext cx="168250" cy="16825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349240" y="3950208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datos: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canónico vive en TAD_MCP_AWS/docs/CONTROL_PLANE.md.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ngrok?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286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2161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423" y="1324783"/>
            <a:ext cx="185075" cy="185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1615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Servidores PayPal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Originan el webhook al ocurrir un evento de cobro.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66160" y="105156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05156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3730752" y="12161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83" y="1324783"/>
            <a:ext cx="185075" cy="185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24528" y="121615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ngrok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74904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público temporal con URL https.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400800" y="1051560"/>
            <a:ext cx="2286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05156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6565392" y="12161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023" y="1324783"/>
            <a:ext cx="185075" cy="185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59168" y="121615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laptop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5836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 en localhost:8080 (invisible desde internet).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2670048" y="1261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HTTPS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834640" y="1517904"/>
            <a:ext cx="64008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5596128" y="12618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reenvía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687568" y="1517904"/>
            <a:ext cx="621792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260604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658368" y="27157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está pasando?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13232" y="301752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webhooks son llamadas de PayPal HACIA tu servidor (no al revés).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tu backend vive en localhost y PayPal no puede alcanzarlo; ngrok le presta una URL pública temporal.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 para desarrollo: en producción la URL real del API Gateway reemplaza a ngrok (se registra en PayPal live).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4224528"/>
            <a:ext cx="64008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Shape 28"/>
          <p:cNvSpPr/>
          <p:nvPr/>
        </p:nvSpPr>
        <p:spPr>
          <a:xfrm>
            <a:off x="658368" y="4293108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4391863"/>
            <a:ext cx="168250" cy="16825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70432" y="4224528"/>
            <a:ext cx="7333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gratuita de ngrok cambia en cada arranque — hay que re-registrarla en PayPal sandbox.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TAD_MCP_AWS · Qué hay en el repo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005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104595"/>
            <a:ext cx="168250" cy="16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9875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 MCP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1792" y="146304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Node/TypeScript. Expone las tools en /mcp para Claude y otros clientes.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64408" y="86868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86868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3410712" y="1005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67" y="1104595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9624" y="9875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Add-in de Revit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29000" y="146304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C#. Se instala en la PC del cliente y ejecuta las órdenes dentro de Revit.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62472" y="86868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62472" y="86868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6208776" y="1005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31" y="1104595"/>
            <a:ext cx="168250" cy="1682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47688" y="9875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infra/ Terraform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27064" y="146304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ECR, ECS Fargate, ALB, DynamoDB y el presupuesto AWS de $35/$50.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7200" y="233172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3317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0"/>
          <p:cNvSpPr/>
          <p:nvPr/>
        </p:nvSpPr>
        <p:spPr>
          <a:xfrm>
            <a:off x="603504" y="2468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2567635"/>
            <a:ext cx="168250" cy="1682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42416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scripts/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21792" y="292608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gen-manifest (Autodesk) · seed-tenant (provisionar clientes a mano) · agent-bridge (simulador).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64408" y="233172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64408" y="23317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5"/>
          <p:cNvSpPr/>
          <p:nvPr/>
        </p:nvSpPr>
        <p:spPr>
          <a:xfrm>
            <a:off x="3410712" y="2468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467" y="2567635"/>
            <a:ext cx="168250" cy="1682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49624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docs/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429000" y="292608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CONTROL_PLANE = contrato de la base · MARKETPLACE = checklist Autodesk · SETTINGS · legales.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62472" y="2331720"/>
            <a:ext cx="26243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62472" y="23317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Shape 30"/>
          <p:cNvSpPr/>
          <p:nvPr/>
        </p:nvSpPr>
        <p:spPr>
          <a:xfrm>
            <a:off x="6208776" y="2468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31" y="2567635"/>
            <a:ext cx="168250" cy="1682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4768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 tests automáticos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227064" y="292608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vitest: auth, manifiesto APS, auditoría de descripciones y runtime.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57200" y="3931920"/>
            <a:ext cx="64008" cy="7498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3" name="Shape 35"/>
          <p:cNvSpPr/>
          <p:nvPr/>
        </p:nvSpPr>
        <p:spPr>
          <a:xfrm>
            <a:off x="658368" y="4123944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" y="4222699"/>
            <a:ext cx="168250" cy="1682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170432" y="3931920"/>
            <a:ext cx="7333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de polling: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NUNCA abre conexión hacia la PC del usuario; el add-in pregunta '¿hay trabajo para mí?' — amigable con firewalls corporativos.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· Catálogo de tools (122 publicadas)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Cuantificación / QTO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84832" y="928116"/>
            <a:ext cx="24688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608576" y="9144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64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/ Query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84832" y="1280160"/>
            <a:ext cx="1932167" cy="210312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10" name="Text 8"/>
          <p:cNvSpPr/>
          <p:nvPr/>
        </p:nvSpPr>
        <p:spPr>
          <a:xfrm>
            <a:off x="4071863" y="12664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1632204"/>
            <a:ext cx="1824824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964520" y="1618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9705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84832" y="1984248"/>
            <a:ext cx="1610139" cy="210312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835" y="19705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84832" y="2336292"/>
            <a:ext cx="1395454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535150" y="23225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6746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84832" y="2688336"/>
            <a:ext cx="1180769" cy="210312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22" name="Text 20"/>
          <p:cNvSpPr/>
          <p:nvPr/>
        </p:nvSpPr>
        <p:spPr>
          <a:xfrm>
            <a:off x="3320465" y="26746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026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84832" y="3040380"/>
            <a:ext cx="966083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105779" y="3026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3787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84832" y="3392424"/>
            <a:ext cx="751398" cy="210312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28" name="Text 26"/>
          <p:cNvSpPr/>
          <p:nvPr/>
        </p:nvSpPr>
        <p:spPr>
          <a:xfrm>
            <a:off x="2891094" y="33787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730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3744468"/>
            <a:ext cx="536713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2676409" y="3730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0827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84832" y="4096512"/>
            <a:ext cx="322028" cy="210312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34" name="Text 32"/>
          <p:cNvSpPr/>
          <p:nvPr/>
        </p:nvSpPr>
        <p:spPr>
          <a:xfrm>
            <a:off x="2461724" y="40827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84832" y="4448556"/>
            <a:ext cx="107343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2247039" y="44348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868680"/>
            <a:ext cx="3108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868680"/>
            <a:ext cx="64008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5779008" y="9692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79008" y="1280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arch_wall_create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crear muros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levels_list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listar niveles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qto_walls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cuantificar muros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export_pdf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imprimir planos a PDF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params_set_where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editar parámetros en lote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77840" y="3017520"/>
            <a:ext cx="3108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77840" y="301752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5760720" y="3127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 tools v2 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 detrás de una compuerta (MCP_INCLUDE_V2_TOOLS) hasta validarlas.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4069080"/>
            <a:ext cx="310896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4069080"/>
            <a:ext cx="64008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4069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→ </a:t>
            </a:r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adjunto, hoja 'Tools MCP'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· Autenticación: token por PC, no estático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8096" y="1097280"/>
            <a:ext cx="0" cy="315468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85039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85039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95097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95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8961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activar una PC en el marketplace se genera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único para ESA PC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(32 bytes aleatorios).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24128" y="144475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144475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54533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14904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en claro se muestra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en la base solo queda su huella SHA-256 (irrecuperable).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24128" y="203911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203911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21396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0848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de Claude viaja con: </a:t>
            </a:r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X-Client-Hostname: &lt;nombre-pc&gt;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4128" y="263347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263347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273405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26791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MCP en CADA request: 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hashea el token → lo busca en seats (índice token_hash_idx) → ¿seat activo? → ¿hostname coincide? → ¿el tenant dueño tiene billing 'active'?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24128" y="322783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4128" y="322783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" y="33284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327355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Respuestas: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 inválido ·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 equivocada o seat revocado ·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suscripción impaga.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4128" y="3822192"/>
            <a:ext cx="76626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4128" y="3822192"/>
            <a:ext cx="54864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504" y="392277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07008" y="38679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5 min → </a:t>
            </a:r>
            <a:pPr algn="l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cancelación corta el acceso en ≤5 minutos</a:t>
            </a:r>
            <a:pPr algn="l" indent="0" marL="0">
              <a:buNone/>
            </a:pPr>
            <a:r>
              <a:rPr lang="en-US" sz="90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avisarle al MCP.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443984"/>
            <a:ext cx="8229600" cy="47548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443984"/>
            <a:ext cx="64008" cy="4754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" y="4498848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4597603"/>
            <a:ext cx="168250" cy="1682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170432" y="4443984"/>
            <a:ext cx="7333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temporal: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pilotos pre-marketplace usan credenciales estáticas (variable de entorno); se migrarán uno a uno con seed-tenant.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· Runtime: de “crea un muro” al resultado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" y="10698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Desktop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141732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lo pide; Claude hace POST /mcp (tool call).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44368" y="1344168"/>
            <a:ext cx="329184" cy="237744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96012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96012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10698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511296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77056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valida 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9584" y="141732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hostname + billing del tenant (ver lámina 11).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70448" y="1344168"/>
            <a:ext cx="329184" cy="237744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96012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96012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7376" y="10698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Encola el job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5664" y="141732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esa instancia: hostname::instancia::versión de Revit.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60920" y="2103120"/>
            <a:ext cx="274320" cy="41148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265176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65176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7376" y="276148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03136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Add-in recoge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55664" y="310896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 a /agent/poll: '¿hay trabajo para mí?'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265176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265176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1296" y="276148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511296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77056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 en Revit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29584" y="310896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hilo de UI de Revit, vía ExternalEvent.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2651760"/>
            <a:ext cx="2377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265176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585216" y="276148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0976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3504" y="310896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por /agent/result → Claude recibe la respuesta.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70448" y="3035808"/>
            <a:ext cx="329184" cy="237744"/>
          </a:xfrm>
          <a:prstGeom prst="leftArrow">
            <a:avLst/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2944368" y="3035808"/>
            <a:ext cx="329184" cy="237744"/>
          </a:xfrm>
          <a:prstGeom prst="leftArrow">
            <a:avLst/>
          </a:prstGeom>
          <a:solidFill>
            <a:srgbClr val="1E2761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069080"/>
            <a:ext cx="64008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8" name="Shape 46"/>
          <p:cNvSpPr/>
          <p:nvPr/>
        </p:nvSpPr>
        <p:spPr>
          <a:xfrm>
            <a:off x="658368" y="4206240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4304995"/>
            <a:ext cx="168250" cy="16825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170432" y="4069080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vive en memoria → 1 sola task de ECS.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 horizontal por diseño; suficiente para esta etapa.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TAD Platform · Por qué pasa a cotización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33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" y="1136965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033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554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BIM-VDC con ~10 módulos: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18470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/ RFIs / Submittals (ACC y BIM360)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planos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/ 5D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checker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data model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</a:t>
            </a:r>
            <a:endParaRPr lang="en-US" sz="950" dirty="0"/>
          </a:p>
          <a:p>
            <a:pPr algn="l" marL="127000" indent="-1270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Gemini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86868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868680"/>
            <a:ext cx="64008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033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13" y="1136965"/>
            <a:ext cx="176662" cy="1766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0096" y="1033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decisión · 10 jun 2026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15727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desplegarla se necesitan las credenciales de la app APS </a:t>
            </a:r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</a:t>
            </a:r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 hub id de ACC, más un onboarding guiado → </a:t>
            </a:r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self-service.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queda fuera del carrito: </a:t>
            </a:r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cards en landing y marketplace muestran 'Request a quote'</a:t>
            </a:r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venta cierra con una llamada.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4224528"/>
            <a:ext cx="64008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Shape 16"/>
          <p:cNvSpPr/>
          <p:nvPr/>
        </p:nvSpPr>
        <p:spPr>
          <a:xfrm>
            <a:off x="658368" y="4293108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4391863"/>
            <a:ext cx="168250" cy="1682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4224528"/>
            <a:ext cx="7333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Docker + nginx · Deploy automático por GitHub Actions en cada push a main.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flujo del dinero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577072" y="301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577072" y="301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4264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033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77" y="1127089"/>
            <a:ext cx="159837" cy="159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70078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su suscripción mensual en PayPal.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924812" y="1536192"/>
            <a:ext cx="192024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2157984" y="914400"/>
            <a:ext cx="14264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57984" y="9144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2295144" y="1033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61" y="1127089"/>
            <a:ext cx="159837" cy="1598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67712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PayPal Business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267712" y="170078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'Taller de Arquitectura Digital' · taller.arq.dgtl@gmail.com · CLABE vinculada.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3625596" y="1536192"/>
            <a:ext cx="192024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3858768" y="914400"/>
            <a:ext cx="14264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58768" y="9144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3995928" y="1033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45" y="1127089"/>
            <a:ext cx="159837" cy="1598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68496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968496" y="170078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cobro, fallo y cancelación.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5326380" y="1536192"/>
            <a:ext cx="192024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5559552" y="914400"/>
            <a:ext cx="14264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559552" y="9144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3"/>
          <p:cNvSpPr/>
          <p:nvPr/>
        </p:nvSpPr>
        <p:spPr>
          <a:xfrm>
            <a:off x="5696712" y="1033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529" y="1127089"/>
            <a:ext cx="159837" cy="15983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69280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base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669280" y="170078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se actualiza (tenant/license).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7027164" y="1536192"/>
            <a:ext cx="192024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3" name="Shape 27"/>
          <p:cNvSpPr/>
          <p:nvPr/>
        </p:nvSpPr>
        <p:spPr>
          <a:xfrm>
            <a:off x="7260336" y="914400"/>
            <a:ext cx="14264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60336" y="9144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Shape 29"/>
          <p:cNvSpPr/>
          <p:nvPr/>
        </p:nvSpPr>
        <p:spPr>
          <a:xfrm>
            <a:off x="7397496" y="1033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313" y="1127089"/>
            <a:ext cx="159837" cy="15983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70064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MCP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370064" y="170078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6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Obedece en ≤5 min (cache TTL).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457200" y="2743200"/>
            <a:ext cx="19751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57200" y="274320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1" name="Text 34"/>
          <p:cNvSpPr/>
          <p:nvPr/>
        </p:nvSpPr>
        <p:spPr>
          <a:xfrm>
            <a:off x="585216" y="28346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$69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585216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mes (1 seat)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2542032" y="2743200"/>
            <a:ext cx="19751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2542032" y="274320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5" name="Text 38"/>
          <p:cNvSpPr/>
          <p:nvPr/>
        </p:nvSpPr>
        <p:spPr>
          <a:xfrm>
            <a:off x="2670048" y="28346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$299</a:t>
            </a:r>
            <a:endParaRPr lang="en-US" sz="2400" dirty="0"/>
          </a:p>
        </p:txBody>
      </p:sp>
      <p:sp>
        <p:nvSpPr>
          <p:cNvPr id="46" name="Text 39"/>
          <p:cNvSpPr/>
          <p:nvPr/>
        </p:nvSpPr>
        <p:spPr>
          <a:xfrm>
            <a:off x="2670048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mes (5 seats)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4626864" y="2743200"/>
            <a:ext cx="19751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4626864" y="274320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9" name="Text 42"/>
          <p:cNvSpPr/>
          <p:nvPr/>
        </p:nvSpPr>
        <p:spPr>
          <a:xfrm>
            <a:off x="4754880" y="28346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≤5 min</a:t>
            </a:r>
            <a:endParaRPr lang="en-US" sz="2400" dirty="0"/>
          </a:p>
        </p:txBody>
      </p:sp>
      <p:sp>
        <p:nvSpPr>
          <p:cNvPr id="50" name="Text 43"/>
          <p:cNvSpPr/>
          <p:nvPr/>
        </p:nvSpPr>
        <p:spPr>
          <a:xfrm>
            <a:off x="4754880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cancelar a cortar acceso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6711696" y="2743200"/>
            <a:ext cx="19751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6711696" y="2743200"/>
            <a:ext cx="64008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3" name="Text 46"/>
          <p:cNvSpPr/>
          <p:nvPr/>
        </p:nvSpPr>
        <p:spPr>
          <a:xfrm>
            <a:off x="6839712" y="28346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~3.49% + fee</a:t>
            </a:r>
            <a:endParaRPr lang="en-US" sz="1600" dirty="0"/>
          </a:p>
        </p:txBody>
      </p:sp>
      <p:sp>
        <p:nvSpPr>
          <p:cNvPr id="54" name="Text 47"/>
          <p:cNvSpPr/>
          <p:nvPr/>
        </p:nvSpPr>
        <p:spPr>
          <a:xfrm>
            <a:off x="6839712" y="32735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PayPal aprox. — verifica tu tarifa exacta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9050" dir="5400000">
              <a:srgbClr val="1E2761">
                <a:alpha val="10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457200" y="3977640"/>
            <a:ext cx="64008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7" name="Shape 50"/>
          <p:cNvSpPr/>
          <p:nvPr/>
        </p:nvSpPr>
        <p:spPr>
          <a:xfrm>
            <a:off x="658368" y="4069080"/>
            <a:ext cx="365760" cy="365760"/>
          </a:xfrm>
          <a:prstGeom prst="ellipse">
            <a:avLst/>
          </a:prstGeom>
          <a:solidFill>
            <a:srgbClr val="2B3775"/>
          </a:solidFill>
          <a:ln/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" y="4167835"/>
            <a:ext cx="168250" cy="16825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1170432" y="3977640"/>
            <a:ext cx="7333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espejo: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se prueba sin dinero real. Precios live ya creados: $69 / $299 / cotización.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3291840" cy="3291840"/>
          </a:xfrm>
          <a:prstGeom prst="ellipse">
            <a:avLst/>
          </a:prstGeom>
          <a:solidFill>
            <a:srgbClr val="2B37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3931920"/>
            <a:ext cx="2194560" cy="2194560"/>
          </a:xfrm>
          <a:prstGeom prst="ellipse">
            <a:avLst/>
          </a:prstGeom>
          <a:solidFill>
            <a:srgbClr val="2B377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y siguientes pasos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040880" y="365760"/>
            <a:ext cx="1417320" cy="365760"/>
          </a:xfrm>
          <a:prstGeom prst="rect">
            <a:avLst/>
          </a:prstGeom>
          <a:solidFill>
            <a:srgbClr val="2B377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365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64008" cy="3063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188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287475"/>
            <a:ext cx="168250" cy="1682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HECHO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" y="1755648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Platform en producción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funcionando E2E en local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live con precios creados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con production access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PayPal validado (sandbox)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023360" cy="3063240"/>
          </a:xfrm>
          <a:prstGeom prst="rect">
            <a:avLst/>
          </a:prstGeom>
          <a:solidFill>
            <a:srgbClr val="2B3775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005840"/>
            <a:ext cx="64008" cy="3063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864608" y="1188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63" y="1287475"/>
            <a:ext cx="168250" cy="168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58384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SIGUE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919472" y="1755648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el MCP (terraform import + apply + ECR)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del marketplace (3 sesiones)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PayPal live en producción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 marketplace.tad.com.mx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(.exe) del add-in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al Autodesk App Store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vivo: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tad-marketplace/docs/tad-services-map.html</a:t>
            </a:r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datos: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TAD_MCP_AWS/docs/CONTROL_PLANE.md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Hub — Mapa de servicios y flujos</dc:title>
  <dc:subject>PptxGenJS Presentation</dc:subject>
  <dc:creator>TAD</dc:creator>
  <cp:lastModifiedBy>TAD</cp:lastModifiedBy>
  <cp:revision>1</cp:revision>
  <dcterms:created xsi:type="dcterms:W3CDTF">2026-06-10T21:21:15Z</dcterms:created>
  <dcterms:modified xsi:type="dcterms:W3CDTF">2026-06-10T21:21:15Z</dcterms:modified>
</cp:coreProperties>
</file>